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mmunity_conn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32688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" cy="1028700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686800"/>
            <a:ext cx="9326880" cy="6400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84124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0" b="0" i="0">
                <a:solidFill>
                  <a:srgbClr val="FFFFFF"/>
                </a:solidFill>
                <a:latin typeface="Anton"/>
              </a:rPr>
              <a:t>SOCIAL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84124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0" b="0" i="0">
                <a:solidFill>
                  <a:srgbClr val="F63B05"/>
                </a:solidFill>
                <a:latin typeface="Anton"/>
              </a:rPr>
              <a:t>SPARK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852160"/>
            <a:ext cx="50292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FAE5"/>
                </a:solidFill>
                <a:latin typeface="Open Sans"/>
              </a:rPr>
              <a:t>Building Social Fitness,
One Connection at a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76809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BBBBBB"/>
                </a:solidFill>
                <a:latin typeface="Open Sans"/>
              </a:rPr>
              <a:t>Presented by: Team SocialSpark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81838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63B05"/>
                </a:solidFill>
                <a:latin typeface="Open Sans"/>
              </a:rPr>
              <a:t>Entrepreneurship Cell  —  Shark Tank Competition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9966960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Open Sans"/>
              </a:rPr>
              <a:t>SocialSpark  —  Building Social Fitness, One Connection at a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0" y="99669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63B05"/>
                </a:solidFill>
                <a:latin typeface="Anton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neliness_pro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9601200" cy="3886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8686800" cy="10287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64008" cy="1028700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86868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  <a:latin typeface="Open Sans"/>
              </a:rPr>
              <a:t>"We don't lack people around us.
We lack meaningful connections."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594360"/>
            <a:ext cx="3474720" cy="38404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95560" y="658368"/>
            <a:ext cx="3200400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n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234440"/>
            <a:ext cx="74980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FFFFFF"/>
                </a:solidFill>
                <a:latin typeface="Anton"/>
              </a:rPr>
              <a:t>LONELINESS
IS AN ECONOMIC
CRISIS.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0" y="5577840"/>
            <a:ext cx="7498079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0" y="5852160"/>
            <a:ext cx="731520" cy="73152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0" y="6016752"/>
            <a:ext cx="731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nton"/>
              </a:rPr>
              <a:t>1:4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5961888"/>
            <a:ext cx="6400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AE5"/>
                </a:solidFill>
                <a:latin typeface="Open Sans"/>
              </a:rPr>
              <a:t>Adults worldwide experience chronic loneliness.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0" y="6766560"/>
            <a:ext cx="731520" cy="73152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6931152"/>
            <a:ext cx="731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nton"/>
              </a:rPr>
              <a:t>3x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876288"/>
            <a:ext cx="6400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AE5"/>
                </a:solidFill>
                <a:latin typeface="Open Sans"/>
              </a:rPr>
              <a:t>Higher risk of depression, anxiety &amp; burnout.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0" y="7680960"/>
            <a:ext cx="731520" cy="73152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0" y="7845552"/>
            <a:ext cx="731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nton"/>
              </a:rPr>
              <a:t>16-60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7790688"/>
            <a:ext cx="6400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AE5"/>
                </a:solidFill>
                <a:latin typeface="Open Sans"/>
              </a:rPr>
              <a:t>The full age range impacted in India alone.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9966960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Open Sans"/>
              </a:rPr>
              <a:t>SocialSpark  —  Building Social Fitness, One Connection at a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0" y="99669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63B05"/>
                </a:solidFill>
                <a:latin typeface="Anton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400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2560320" cy="38404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2286000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ns"/>
              </a:rPr>
              <a:t>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1887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0" b="0" i="0">
                <a:solidFill>
                  <a:srgbClr val="FFFFFF"/>
                </a:solidFill>
                <a:latin typeface="Anton"/>
              </a:rPr>
              <a:t>COMMUNICATION
VS CONNECTION.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1887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63B05"/>
                </a:solidFill>
                <a:latin typeface="Open Sans"/>
              </a:rPr>
              <a:t>Apps help people talk. SocialSpark helps people belong.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60520"/>
            <a:ext cx="169164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434840"/>
            <a:ext cx="8046720" cy="5029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53128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BBBBBB"/>
                </a:solidFill>
                <a:latin typeface="Anton"/>
              </a:rPr>
              <a:t>Existing Platforms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AE5"/>
                </a:solidFill>
                <a:latin typeface="Open Sans"/>
              </a:rPr>
              <a:t>—  Chat-first — conversation without real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33288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AE5"/>
                </a:solidFill>
                <a:latin typeface="Open Sans"/>
              </a:rPr>
              <a:t>—  Screen-addictive — passive, online-only loops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391655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AE5"/>
                </a:solidFill>
                <a:latin typeface="Open Sans"/>
              </a:rPr>
              <a:t>—  Anxiety-inducing — vanity metrics drive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7050023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AE5"/>
                </a:solidFill>
                <a:latin typeface="Open Sans"/>
              </a:rPr>
              <a:t>—  No offline accountability or habit 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7708392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AE5"/>
                </a:solidFill>
                <a:latin typeface="Open Sans"/>
              </a:rPr>
              <a:t>—  Connections are weak — no shared experience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4434840"/>
            <a:ext cx="8229600" cy="50292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4453128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nton"/>
              </a:rPr>
              <a:t>SocialSpark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5074920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Open Sans"/>
              </a:rPr>
              <a:t>+  Experience-first — real-world offline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5733288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Open Sans"/>
              </a:rPr>
              <a:t>+  QR-verified attendance — no screen addiction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6391655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Open Sans"/>
              </a:rPr>
              <a:t>+  Gamified XP — positive reinforcement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7050023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Open Sans"/>
              </a:rPr>
              <a:t>+  Streaks &amp; missions — builds long-term habits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7708392"/>
            <a:ext cx="76809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Open Sans"/>
              </a:rPr>
              <a:t>+  Bonds through shared activities, not chatting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9966960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Open Sans"/>
              </a:rPr>
              <a:t>SocialSpark  —  Building Social Fitness, One Connection at a 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0" y="99669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63B05"/>
                </a:solidFill>
                <a:latin typeface="Anton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pp_mockup_scre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65760"/>
            <a:ext cx="7589520" cy="9555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42416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" cy="1028700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"/>
            <a:ext cx="3200400" cy="38404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704088"/>
            <a:ext cx="2926080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ns"/>
              </a:rPr>
              <a:t>OUR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95097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0" i="0">
                <a:solidFill>
                  <a:srgbClr val="FFFFFF"/>
                </a:solidFill>
                <a:latin typeface="Anton"/>
              </a:rPr>
              <a:t>INDIA'S FIRST
SOCIAL FITNESS
PLATFORM.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49240"/>
            <a:ext cx="950976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BBBBBB"/>
                </a:solidFill>
                <a:latin typeface="Open Sans"/>
              </a:rPr>
              <a:t>Instead of asking who you want to talk to,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72200"/>
            <a:ext cx="9144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63B05"/>
                </a:solidFill>
                <a:latin typeface="Open Sans"/>
              </a:rPr>
              <a:t>We ask: "What do you want to experience today?"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949440"/>
            <a:ext cx="502920" cy="50292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7062597"/>
            <a:ext cx="502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nton"/>
              </a:rPr>
              <a:t>HC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69494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Open Sans"/>
              </a:rPr>
              <a:t>Hobby Clubs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7242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Open Sans"/>
              </a:rPr>
              <a:t>Photography, Chess, Music, Cooking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7626096"/>
            <a:ext cx="502920" cy="50292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7739252"/>
            <a:ext cx="502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nton"/>
              </a:rPr>
              <a:t>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762609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Open Sans"/>
              </a:rPr>
              <a:t>Community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791870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Open Sans"/>
              </a:rPr>
              <a:t>Sports, Tournaments, Fitness Drives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8302752"/>
            <a:ext cx="502920" cy="50292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8415909"/>
            <a:ext cx="502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nton"/>
              </a:rPr>
              <a:t>VD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83027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Open Sans"/>
              </a:rPr>
              <a:t>Volunteer Drives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85953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Open Sans"/>
              </a:rPr>
              <a:t>NGO-verified, XP-rewarded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8979408"/>
            <a:ext cx="502920" cy="50292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9092565"/>
            <a:ext cx="502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nton"/>
              </a:rPr>
              <a:t>LW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89794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Open Sans"/>
              </a:rPr>
              <a:t>Local Workshops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92720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Open Sans"/>
              </a:rPr>
              <a:t>Coding, Pottery, Dance, Language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9966960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Open Sans"/>
              </a:rPr>
              <a:t>SocialSpark  —  Building Social Fitness, One Connection at a Time.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42080" y="99669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63B05"/>
                </a:solidFill>
                <a:latin typeface="Anton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400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2743200" cy="38404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2468880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ns"/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3716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00" b="0" i="0">
                <a:solidFill>
                  <a:srgbClr val="FFFFFF"/>
                </a:solidFill>
                <a:latin typeface="Anton"/>
              </a:rPr>
              <a:t>HOW IT 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63B05"/>
                </a:solidFill>
                <a:latin typeface="Open Sans"/>
              </a:rPr>
              <a:t>Four steps. Fully verified. Beautifully simple.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337560"/>
            <a:ext cx="169164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3931920" cy="53492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3931920" cy="54864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63B05"/>
                </a:solidFill>
                <a:latin typeface="Anton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nton"/>
              </a:rPr>
              <a:t>SIGN UP
&amp; 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52160"/>
            <a:ext cx="36576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Open Sans"/>
              </a:rPr>
              <a:t>Pick your world — Photography, Football, Yoga, Cooking, Music, Coding, Reading, or Volunteering.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3657600"/>
            <a:ext cx="3931920" cy="53492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3657600"/>
            <a:ext cx="3931920" cy="54864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379476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63B05"/>
                </a:solidFill>
                <a:latin typeface="Anton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70916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nton"/>
              </a:rPr>
              <a:t>AI
MATCHES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852160"/>
            <a:ext cx="36576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Open Sans"/>
              </a:rPr>
              <a:t>Our algorithm surfaces the right verified, nearby events based on your interest profile and location.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3657600"/>
            <a:ext cx="3931920" cy="53492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3657600"/>
            <a:ext cx="3931920" cy="54864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379476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63B05"/>
                </a:solidFill>
                <a:latin typeface="Anton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70916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nton"/>
              </a:rPr>
              <a:t>ATTEND
&amp; 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5852160"/>
            <a:ext cx="36576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Open Sans"/>
              </a:rPr>
              <a:t>Show up. Scan the host QR code. Attendance is instantly verified — no self-reporting, no cheating.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075920" y="3657600"/>
            <a:ext cx="3931920" cy="53492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075920" y="3657600"/>
            <a:ext cx="3931920" cy="54864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0" y="379476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63B05"/>
                </a:solidFill>
                <a:latin typeface="Anton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0" y="470916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Anton"/>
              </a:rPr>
              <a:t>EARN XP
&amp; WIN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0" y="5852160"/>
            <a:ext cx="36576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Open Sans"/>
              </a:rPr>
              <a:t>Collect Social XP. Hit streaks. Climb leaderboards. Unlock real rewards — coffee, cinema, gyms, classes.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9966960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Open Sans"/>
              </a:rPr>
              <a:t>SocialSpark  —  Building Social Fitness, One Connection at a 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0" y="99669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63B05"/>
                </a:solidFill>
                <a:latin typeface="Anton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amification_x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0"/>
            <a:ext cx="86868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601200" y="0"/>
            <a:ext cx="73152" cy="1028700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8048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11480" cy="1028700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02920"/>
            <a:ext cx="4389120" cy="38404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66928"/>
            <a:ext cx="4114800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ns"/>
              </a:rPr>
              <a:t>SOCIAL FITNESS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8686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0" i="0">
                <a:solidFill>
                  <a:srgbClr val="FFFFFF"/>
                </a:solidFill>
                <a:latin typeface="Anton"/>
              </a:rPr>
              <a:t>MAKING SOCIAL
INTERACTION
A HABIT.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572000"/>
            <a:ext cx="86868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846320"/>
            <a:ext cx="8686800" cy="56692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901183"/>
            <a:ext cx="475488" cy="47548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08168"/>
            <a:ext cx="475488" cy="2852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nton"/>
              </a:rPr>
              <a:t>ATT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974336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AE5"/>
                </a:solidFill>
                <a:latin typeface="Open Sans"/>
              </a:rPr>
              <a:t>Attend any verified 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4937759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0" i="0">
                <a:solidFill>
                  <a:srgbClr val="F63B05"/>
                </a:solidFill>
                <a:latin typeface="Anton"/>
              </a:rPr>
              <a:t>+50 XP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522976"/>
            <a:ext cx="8686800" cy="56692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577840"/>
            <a:ext cx="475488" cy="47548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684824"/>
            <a:ext cx="475488" cy="2852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nton"/>
              </a:rPr>
              <a:t>VOL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650992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AE5"/>
                </a:solidFill>
                <a:latin typeface="Open Sans"/>
              </a:rPr>
              <a:t>Volunteer at an NGO drive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5614416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0" i="0">
                <a:solidFill>
                  <a:srgbClr val="F63B05"/>
                </a:solidFill>
                <a:latin typeface="Anton"/>
              </a:rPr>
              <a:t>+150 XP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199632"/>
            <a:ext cx="8686800" cy="56692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6254496"/>
            <a:ext cx="475488" cy="47548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361480"/>
            <a:ext cx="475488" cy="2852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nton"/>
              </a:rPr>
              <a:t>HST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327648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AE5"/>
                </a:solidFill>
                <a:latin typeface="Open Sans"/>
              </a:rPr>
              <a:t>Host a community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6291072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0" i="0">
                <a:solidFill>
                  <a:srgbClr val="F63B05"/>
                </a:solidFill>
                <a:latin typeface="Anton"/>
              </a:rPr>
              <a:t>+300 XP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876288"/>
            <a:ext cx="8686800" cy="56692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6931152"/>
            <a:ext cx="475488" cy="47548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7038136"/>
            <a:ext cx="475488" cy="2852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nton"/>
              </a:rPr>
              <a:t>REF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7004304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AE5"/>
                </a:solidFill>
                <a:latin typeface="Open Sans"/>
              </a:rPr>
              <a:t>Refer and bring a new friend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6967728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0" i="0">
                <a:solidFill>
                  <a:srgbClr val="F63B05"/>
                </a:solidFill>
                <a:latin typeface="Anton"/>
              </a:rPr>
              <a:t>+100 XP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7552944"/>
            <a:ext cx="8686800" cy="56692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7607808"/>
            <a:ext cx="475488" cy="47548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7714792"/>
            <a:ext cx="475488" cy="2852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nton"/>
              </a:rPr>
              <a:t>QST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7680960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AE5"/>
                </a:solidFill>
                <a:latin typeface="Open Sans"/>
              </a:rPr>
              <a:t>Complete the weekly social quest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7644383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0" i="0">
                <a:solidFill>
                  <a:srgbClr val="F63B05"/>
                </a:solidFill>
                <a:latin typeface="Anton"/>
              </a:rPr>
              <a:t>+250 XP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96112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BBBBB"/>
                </a:solidFill>
                <a:latin typeface="Open Sans"/>
              </a:rPr>
              <a:t>Exactly how RunSpark built exercise habits —
SocialSpark builds lifelong social fitness habits.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9966960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Open Sans"/>
              </a:rPr>
              <a:t>SocialSpark  —  Building Social Fitness, One Connection at a Time.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642080" y="99669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63B05"/>
                </a:solidFill>
                <a:latin typeface="Anton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400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3474720" cy="38404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3200400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ns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9728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400" b="0" i="0">
                <a:solidFill>
                  <a:srgbClr val="FFFFFF"/>
                </a:solidFill>
                <a:latin typeface="Anton"/>
              </a:rPr>
              <a:t>FIVE REVENUE
STREAMS.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63B05"/>
                </a:solidFill>
                <a:latin typeface="Open Sans"/>
              </a:rPr>
              <a:t>Diversified  —  Recurring  —  Scalable.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169164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794760"/>
            <a:ext cx="548640" cy="54864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918204"/>
            <a:ext cx="548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nton"/>
              </a:rPr>
              <a:t>B2B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794760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63B05"/>
                </a:solidFill>
                <a:latin typeface="Open Sans"/>
              </a:rPr>
              <a:t>B2B Hosting Fees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178808"/>
            <a:ext cx="1600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AE5"/>
                </a:solidFill>
                <a:latin typeface="Open Sans"/>
              </a:rPr>
              <a:t>Cafes, bookstores, and coworking spaces pay a listing and promotion fee to host branded experiences and drive real offline footfall — no billboard spend.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782312"/>
            <a:ext cx="16916400" cy="16459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892040"/>
            <a:ext cx="548640" cy="54864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015484"/>
            <a:ext cx="548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nton"/>
              </a:rPr>
              <a:t>PRE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892040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63B05"/>
                </a:solidFill>
                <a:latin typeface="Open Sans"/>
              </a:rPr>
              <a:t>Premium Membership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276088"/>
            <a:ext cx="1600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AE5"/>
                </a:solidFill>
                <a:latin typeface="Open Sans"/>
              </a:rPr>
              <a:t>Rs 199/month unlocks priority event bookings, exclusive workshops, a 2x XP multiplier, and advanced community networking tools.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879592"/>
            <a:ext cx="16916400" cy="16459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989320"/>
            <a:ext cx="548640" cy="54864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112764"/>
            <a:ext cx="548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nton"/>
              </a:rPr>
              <a:t>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989320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63B05"/>
                </a:solidFill>
                <a:latin typeface="Open Sans"/>
              </a:rPr>
              <a:t>Ticket Commission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6373368"/>
            <a:ext cx="1600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AE5"/>
                </a:solidFill>
                <a:latin typeface="Open Sans"/>
              </a:rPr>
              <a:t>20% cut on all paid hobby workshops — pottery, dance, coding, music, photography, cooking. Every event is recurring revenue.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976872"/>
            <a:ext cx="16916400" cy="16459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7086600"/>
            <a:ext cx="548640" cy="54864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7210044"/>
            <a:ext cx="548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nton"/>
              </a:rPr>
              <a:t>BRD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7086600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63B05"/>
                </a:solidFill>
                <a:latin typeface="Open Sans"/>
              </a:rPr>
              <a:t>Brand Partnerships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7470648"/>
            <a:ext cx="1600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AE5"/>
                </a:solidFill>
                <a:latin typeface="Open Sans"/>
              </a:rPr>
              <a:t>Local and national brands sponsor XP leaderboards, seasonal campaigns, and community challenges instead of expensive influencer deals.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8074152"/>
            <a:ext cx="16916400" cy="16459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8183880"/>
            <a:ext cx="548640" cy="54864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8307324"/>
            <a:ext cx="548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nton"/>
              </a:rPr>
              <a:t>NGO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8183880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63B05"/>
                </a:solidFill>
                <a:latin typeface="Open Sans"/>
              </a:rPr>
              <a:t>NGO Subscriptions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8567928"/>
            <a:ext cx="1600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AE5"/>
                </a:solidFill>
                <a:latin typeface="Open Sans"/>
              </a:rPr>
              <a:t>Monthly SaaS fee for NGOs to recruit, verify, and manage dedicated volunteer cohorts through our platform with mission tracking.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9171432"/>
            <a:ext cx="16916400" cy="16459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9966960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Open Sans"/>
              </a:rPr>
              <a:t>SocialSpark  —  Building Social Fitness, One Connection at a Time.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0" y="99669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63B05"/>
                </a:solidFill>
                <a:latin typeface="Anton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dia_scale_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601200" y="0"/>
            <a:ext cx="86868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64008" cy="1028700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502920"/>
            <a:ext cx="4389120" cy="38404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566928"/>
            <a:ext cx="4114800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ns"/>
              </a:rPr>
              <a:t>SCALABILITY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143000"/>
            <a:ext cx="77724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0" i="0">
                <a:solidFill>
                  <a:srgbClr val="FFFFFF"/>
                </a:solidFill>
                <a:latin typeface="Anton"/>
              </a:rPr>
              <a:t>BUILT
TO SCALE.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3429000"/>
            <a:ext cx="77724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0" y="3657600"/>
            <a:ext cx="566928" cy="56692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0" y="3785158"/>
            <a:ext cx="566928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nton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3675887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63B05"/>
                </a:solidFill>
                <a:latin typeface="Anton"/>
              </a:rPr>
              <a:t>PILOT 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4078224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AE5"/>
                </a:solidFill>
                <a:latin typeface="Open Sans"/>
              </a:rPr>
              <a:t>20 cafes, 15 NGOs, 10 colleges, 100 monthly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4645152"/>
            <a:ext cx="777240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4773168"/>
            <a:ext cx="566928" cy="56692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4900726"/>
            <a:ext cx="566928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nton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4791455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63B05"/>
                </a:solidFill>
                <a:latin typeface="Anton"/>
              </a:rPr>
              <a:t>CAMPUS &amp; CORPORATES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5193792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AE5"/>
                </a:solidFill>
                <a:latin typeface="Open Sans"/>
              </a:rPr>
              <a:t>Universities, hybrid workplaces, and coworking networks.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5760720"/>
            <a:ext cx="777240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0" y="5888736"/>
            <a:ext cx="566928" cy="56692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6016294"/>
            <a:ext cx="566928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nton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5907023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63B05"/>
                </a:solidFill>
                <a:latin typeface="Anton"/>
              </a:rPr>
              <a:t>METRO CITIES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309359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AE5"/>
                </a:solidFill>
                <a:latin typeface="Open Sans"/>
              </a:rPr>
              <a:t>Bangalore, Mumbai, Delhi, Hyderabad, Pune.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0" y="6876288"/>
            <a:ext cx="777240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7004303"/>
            <a:ext cx="566928" cy="56692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7131862"/>
            <a:ext cx="566928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nton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7022591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63B05"/>
                </a:solidFill>
                <a:latin typeface="Anton"/>
              </a:rPr>
              <a:t>PAN INDIA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7424927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AE5"/>
                </a:solidFill>
                <a:latin typeface="Open Sans"/>
              </a:rPr>
              <a:t>Tier 1 and Tier 2 cities. National community scale.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7991855"/>
            <a:ext cx="777240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58400" y="8119871"/>
            <a:ext cx="566928" cy="56692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0" y="8247430"/>
            <a:ext cx="566928" cy="3401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nton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8138159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63B05"/>
                </a:solidFill>
                <a:latin typeface="Anton"/>
              </a:rPr>
              <a:t>GLOBAL EXPANSION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0" y="8540496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AE5"/>
                </a:solidFill>
                <a:latin typeface="Open Sans"/>
              </a:rPr>
              <a:t>South-East Asia, Middle East, and international student hubs.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0" y="9107424"/>
            <a:ext cx="7772400" cy="18288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9966960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Open Sans"/>
              </a:rPr>
              <a:t>SocialSpark  —  Building Social Fitness, One Connection at a Time.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642080" y="99669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63B05"/>
                </a:solidFill>
                <a:latin typeface="Anton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400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4114800" cy="38404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3840480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ns"/>
              </a:rPr>
              <a:t>COMPETITIVE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9728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0" b="0" i="0">
                <a:solidFill>
                  <a:srgbClr val="FFFFFF"/>
                </a:solidFill>
                <a:latin typeface="Anton"/>
              </a:rPr>
              <a:t>FIVE REASONS
WE WIN.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169164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3273552" cy="58064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3273552" cy="54864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3337560"/>
            <a:ext cx="749808" cy="749808"/>
          </a:xfrm>
          <a:prstGeom prst="ellipse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72525"/>
            <a:ext cx="749808" cy="487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nton"/>
              </a:rPr>
              <a:t>SF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51960"/>
            <a:ext cx="30449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Anton"/>
              </a:rPr>
              <a:t>SOCIAL FITNESS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29200"/>
            <a:ext cx="3044952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  <a:latin typeface="Open Sans"/>
              </a:rPr>
              <a:t>We don't compete with Instagram.
We track and reward what Instagram ignores — real offline human connection.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6512" y="3108960"/>
            <a:ext cx="3273552" cy="58064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96512" y="3108960"/>
            <a:ext cx="3273552" cy="54864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70832" y="3337560"/>
            <a:ext cx="749808" cy="749808"/>
          </a:xfrm>
          <a:prstGeom prst="ellipse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2" y="3472525"/>
            <a:ext cx="749808" cy="487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nton"/>
              </a:rPr>
              <a:t>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4251960"/>
            <a:ext cx="30449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Anton"/>
              </a:rPr>
              <a:t>OFFLINE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5029200"/>
            <a:ext cx="3044952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  <a:latin typeface="Open Sans"/>
              </a:rPr>
              <a:t>Technology is just the trigger.
Real friendships are forged through shared experiences, not shared feeds.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61504" y="3108960"/>
            <a:ext cx="3273552" cy="58064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61504" y="3108960"/>
            <a:ext cx="3273552" cy="54864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35824" y="3337560"/>
            <a:ext cx="749808" cy="749808"/>
          </a:xfrm>
          <a:prstGeom prst="ellipse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4" y="3472525"/>
            <a:ext cx="749808" cy="487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nton"/>
              </a:rPr>
              <a:t>XP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4251960"/>
            <a:ext cx="30449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Anton"/>
              </a:rPr>
              <a:t>GAMIFIED HABITS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8664" y="5029200"/>
            <a:ext cx="3044952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  <a:latin typeface="Open Sans"/>
              </a:rPr>
              <a:t>XP, streaks, leaderboards, weekly quests.
The psychology that made fitness apps indispensable — applied to social life.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26496" y="3108960"/>
            <a:ext cx="3273552" cy="58064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826496" y="3108960"/>
            <a:ext cx="3273552" cy="54864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100816" y="3337560"/>
            <a:ext cx="749808" cy="749808"/>
          </a:xfrm>
          <a:prstGeom prst="ellipse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00816" y="3472525"/>
            <a:ext cx="749808" cy="487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nton"/>
              </a:rPr>
              <a:t>VF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63656" y="4251960"/>
            <a:ext cx="30449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Anton"/>
              </a:rPr>
              <a:t>VERIFIED &amp; SAFE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63656" y="5029200"/>
            <a:ext cx="3044952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  <a:latin typeface="Open Sans"/>
              </a:rPr>
              <a:t>Verified profiles, verified hosts, verified venues.
Trust is not an add-on. It is the foundation of every interaction.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191488" y="3108960"/>
            <a:ext cx="3273552" cy="58064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191488" y="3108960"/>
            <a:ext cx="3273552" cy="54864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465808" y="3337560"/>
            <a:ext cx="749808" cy="749808"/>
          </a:xfrm>
          <a:prstGeom prst="ellipse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465808" y="3472525"/>
            <a:ext cx="749808" cy="487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Anton"/>
              </a:rPr>
              <a:t>EC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328648" y="4251960"/>
            <a:ext cx="30449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Anton"/>
              </a:rPr>
              <a:t>FULL ECOSYSTEM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328648" y="5029200"/>
            <a:ext cx="3044952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BBBBBB"/>
                </a:solidFill>
                <a:latin typeface="Open Sans"/>
              </a:rPr>
              <a:t>Users, businesses, NGOs, and brands.
Every stakeholder is rewarded, creating a self-sustaining value network.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8979408"/>
            <a:ext cx="16916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F63B05"/>
                </a:solidFill>
                <a:latin typeface="Open Sans"/>
              </a:rPr>
              <a:t>"We don't build users. We build communities."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9966960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Open Sans"/>
              </a:rPr>
              <a:t>SocialSpark  —  Building Social Fitness, One Connection at a Time.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642080" y="99669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63B05"/>
                </a:solidFill>
                <a:latin typeface="Anton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1028700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64008" cy="1028700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594360"/>
            <a:ext cx="3200400" cy="38404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658368"/>
            <a:ext cx="2926080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ns"/>
              </a:rPr>
              <a:t>MARKET TIMING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75895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0" b="0" i="0">
                <a:solidFill>
                  <a:srgbClr val="FFFFFF"/>
                </a:solidFill>
                <a:latin typeface="Anton"/>
              </a:rPr>
              <a:t>RIGHT
PROBLEM.
RIGHT
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17920"/>
            <a:ext cx="758952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5895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FFFAE5"/>
                </a:solidFill>
                <a:latin typeface="Open Sans"/>
              </a:rPr>
              <a:t>"People track sleep, calories, steps.
Why not their social wellbeing?"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0"/>
            <a:ext cx="2834640" cy="10287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0" y="1097280"/>
            <a:ext cx="822960" cy="822960"/>
          </a:xfrm>
          <a:prstGeom prst="ellipse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0" y="1245412"/>
            <a:ext cx="822960" cy="5349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Anton"/>
              </a:rPr>
              <a:t>MH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240280"/>
            <a:ext cx="24688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F63B05"/>
                </a:solidFill>
                <a:latin typeface="Anton"/>
              </a:rPr>
              <a:t>MENTAL HEALTH
AWARENESS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3703320"/>
            <a:ext cx="242316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3886200"/>
            <a:ext cx="2468880" cy="594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AE5"/>
                </a:solidFill>
                <a:latin typeface="Open Sans"/>
              </a:rPr>
              <a:t>Loneliness has been declared a global health epidemic. WHO and governments worldwide are actively funding community health solutions.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161520" y="0"/>
            <a:ext cx="2834640" cy="10287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167360" y="1097280"/>
            <a:ext cx="822960" cy="822960"/>
          </a:xfrm>
          <a:prstGeom prst="ellipse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167360" y="1245412"/>
            <a:ext cx="822960" cy="5349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Anton"/>
              </a:rPr>
              <a:t>HW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0" y="2240280"/>
            <a:ext cx="24688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F63B05"/>
                </a:solidFill>
                <a:latin typeface="Anton"/>
              </a:rPr>
              <a:t>HYBRID WORK
IS THE NORM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344400" y="3703320"/>
            <a:ext cx="242316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0" y="3886200"/>
            <a:ext cx="2468880" cy="594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AE5"/>
                </a:solidFill>
                <a:latin typeface="Open Sans"/>
              </a:rPr>
              <a:t>Remote and hybrid work has eliminated the daily spontaneous social contact of an office. The demand for real community has never been greater.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270480" y="0"/>
            <a:ext cx="2834640" cy="10287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276320" y="1097280"/>
            <a:ext cx="822960" cy="822960"/>
          </a:xfrm>
          <a:prstGeom prst="ellipse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0" y="1245412"/>
            <a:ext cx="822960" cy="5349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Anton"/>
              </a:rPr>
              <a:t>SF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453359" y="2240280"/>
            <a:ext cx="24688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F63B05"/>
                </a:solidFill>
                <a:latin typeface="Anton"/>
              </a:rPr>
              <a:t>SCREEN
FATIGUE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453359" y="3703320"/>
            <a:ext cx="242316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453359" y="3886200"/>
            <a:ext cx="2468880" cy="594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AE5"/>
                </a:solidFill>
                <a:latin typeface="Open Sans"/>
              </a:rPr>
              <a:t>Gen-Z and Millennials are actively seeking digital detoxes. Real, tangible experiences are becoming the new social currency.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9966960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Open Sans"/>
              </a:rPr>
              <a:t>SocialSpark  —  Building Social Fitness, One Connection at a 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0" y="99669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63B05"/>
                </a:solidFill>
                <a:latin typeface="Anton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6400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2560320" cy="384048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2286000" cy="256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Open Sans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18872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00" b="0" i="0">
                <a:solidFill>
                  <a:srgbClr val="F63B05"/>
                </a:solidFill>
                <a:latin typeface="Anton"/>
              </a:rPr>
              <a:t>Rs.20 LAKHS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1887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Anton"/>
              </a:rPr>
              <a:t>FOR 10% EQUITY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77639"/>
            <a:ext cx="1691640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AE5"/>
                </a:solidFill>
                <a:latin typeface="Anton"/>
              </a:rPr>
              <a:t>FUND ALLOCATION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846320"/>
            <a:ext cx="457200" cy="45720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94919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nton"/>
              </a:rPr>
              <a:t>PD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892040"/>
            <a:ext cx="6217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AE5"/>
                </a:solidFill>
                <a:latin typeface="Open Sans"/>
              </a:rPr>
              <a:t>Product Development &amp; App Refinement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892040"/>
            <a:ext cx="914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63B05"/>
                </a:solidFill>
                <a:latin typeface="Anton"/>
              </a:rPr>
              <a:t>40%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321808"/>
            <a:ext cx="9601200" cy="2560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321808"/>
            <a:ext cx="3840480" cy="256032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815583"/>
            <a:ext cx="457200" cy="45720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918453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nton"/>
              </a:rPr>
              <a:t>MK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861303"/>
            <a:ext cx="6217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AE5"/>
                </a:solidFill>
                <a:latin typeface="Open Sans"/>
              </a:rPr>
              <a:t>Marketing &amp; City Launch Campaigns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5861303"/>
            <a:ext cx="914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63B05"/>
                </a:solidFill>
                <a:latin typeface="Anton"/>
              </a:rPr>
              <a:t>30%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291071"/>
            <a:ext cx="9601200" cy="2560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6291071"/>
            <a:ext cx="2880360" cy="256032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6784848"/>
            <a:ext cx="457200" cy="45720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88771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nton"/>
              </a:rPr>
              <a:t>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830568"/>
            <a:ext cx="6217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AE5"/>
                </a:solidFill>
                <a:latin typeface="Open Sans"/>
              </a:rPr>
              <a:t>Partnership Expansion — B2B and NGOs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830568"/>
            <a:ext cx="914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63B05"/>
                </a:solidFill>
                <a:latin typeface="Anton"/>
              </a:rPr>
              <a:t>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7260336"/>
            <a:ext cx="9601200" cy="2560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7260336"/>
            <a:ext cx="1920240" cy="256032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7754112"/>
            <a:ext cx="457200" cy="45720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785698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nton"/>
              </a:rPr>
              <a:t>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7799832"/>
            <a:ext cx="6217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AE5"/>
                </a:solidFill>
                <a:latin typeface="Open Sans"/>
              </a:rPr>
              <a:t>Operations &amp; Customer Support 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7799832"/>
            <a:ext cx="914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63B05"/>
                </a:solidFill>
                <a:latin typeface="Anton"/>
              </a:rPr>
              <a:t>10%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8229600"/>
            <a:ext cx="9601200" cy="2560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8229600"/>
            <a:ext cx="960120" cy="256032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247120" y="777240"/>
            <a:ext cx="6675120" cy="84124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247120" y="777240"/>
            <a:ext cx="64008" cy="8412480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612880" y="10515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63B05"/>
                </a:solidFill>
                <a:latin typeface="Anton"/>
              </a:rPr>
              <a:t>OUR VISION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0" y="1783080"/>
            <a:ext cx="60350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AE5"/>
                </a:solidFill>
                <a:latin typeface="Open Sans"/>
              </a:rPr>
              <a:t>To become India's largest platform that transforms loneliness into meaningful human connection — one city, one community at a time.
The technology scales. Only the communities grow.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612880" y="4937760"/>
            <a:ext cx="5852160" cy="36576"/>
          </a:xfrm>
          <a:prstGeom prst="rect">
            <a:avLst/>
          </a:prstGeom>
          <a:solidFill>
            <a:srgbClr val="F63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612880" y="5120640"/>
            <a:ext cx="60350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nton"/>
              </a:rPr>
              <a:t>YEAR ONE TARGETS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12880" y="5760720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63B05"/>
                </a:solidFill>
                <a:latin typeface="Anton"/>
              </a:rPr>
              <a:t>20+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030200" y="5815583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Open Sans"/>
              </a:rPr>
              <a:t>business partners onboarded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12880" y="6309359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63B05"/>
                </a:solidFill>
                <a:latin typeface="Anton"/>
              </a:rPr>
              <a:t>15+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030200" y="6364223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Open Sans"/>
              </a:rPr>
              <a:t>NGO integrations live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12880" y="6857999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63B05"/>
                </a:solidFill>
                <a:latin typeface="Anton"/>
              </a:rPr>
              <a:t>10K+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030200" y="6912863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Open Sans"/>
              </a:rPr>
              <a:t>verified active users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12880" y="7406640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63B05"/>
                </a:solidFill>
                <a:latin typeface="Anton"/>
              </a:rPr>
              <a:t>100+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0200" y="7461504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  <a:latin typeface="Open Sans"/>
              </a:rPr>
              <a:t>community events per month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9966960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Open Sans"/>
              </a:rPr>
              <a:t>SocialSpark  —  Building Social Fitness, One Connection at a Time.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642080" y="99669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F63B05"/>
                </a:solidFill>
                <a:latin typeface="Anton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3B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21792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0"/>
            <a:ext cx="621792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852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0" b="0" i="0">
                <a:solidFill>
                  <a:srgbClr val="000000"/>
                </a:solidFill>
                <a:latin typeface="Anton"/>
              </a:rPr>
              <a:t>THANK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3291840"/>
            <a:ext cx="5852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0" b="0" i="0">
                <a:solidFill>
                  <a:srgbClr val="000000"/>
                </a:solidFill>
                <a:latin typeface="Anton"/>
              </a:rPr>
              <a:t>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539496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 i="1">
                <a:solidFill>
                  <a:srgbClr val="000000"/>
                </a:solidFill>
                <a:latin typeface="Open Sans"/>
              </a:rPr>
              <a:t>For Your Attention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6400800"/>
            <a:ext cx="18288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56032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F63B05"/>
                </a:solidFill>
                <a:latin typeface="Anton"/>
              </a:rPr>
              <a:t>SOCIALSPARK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520440"/>
            <a:ext cx="5303520" cy="5486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749039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FFFAE5"/>
                </a:solidFill>
                <a:latin typeface="Open Sans"/>
              </a:rPr>
              <a:t>"Building Social Fitness,
One Connection at a Time."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66928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BBBBBB"/>
                </a:solidFill>
                <a:latin typeface="Open Sans"/>
              </a:rPr>
              <a:t>"Loneliness is not solved by more screen time.
It is solved by more real time."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90120" y="256032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F63B05"/>
                </a:solidFill>
                <a:latin typeface="Anton"/>
              </a:rPr>
              <a:t>QUESTIONS?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90120" y="3520440"/>
            <a:ext cx="5303520" cy="54864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90120" y="37947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Open Sans"/>
              </a:rPr>
              <a:t>Let's Connect.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90120" y="443484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63B05"/>
                </a:solidFill>
                <a:latin typeface="Open Sans"/>
              </a:rPr>
              <a:t>team@socialspark.in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90120" y="5120640"/>
            <a:ext cx="5303520" cy="3657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90120" y="534924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BBBBBB"/>
                </a:solidFill>
                <a:latin typeface="Open Sans"/>
              </a:rPr>
              <a:t>Entrepreneurship Cell
Shark Tank Pitch Competition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966960"/>
            <a:ext cx="1737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63B05"/>
                </a:solidFill>
                <a:latin typeface="Open Sans"/>
              </a:rPr>
              <a:t>SocialSpark Pitch Deck  —  Shark Tank Competition  — 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