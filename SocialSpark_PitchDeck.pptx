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munity_conn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0"/>
            <a:ext cx="896112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326880" y="0"/>
            <a:ext cx="8961120" cy="10287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0" i="0">
                <a:solidFill>
                  <a:srgbClr val="FFFFFF"/>
                </a:solidFill>
                <a:latin typeface="Anton"/>
              </a:rPr>
              <a:t>SOCIAL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9144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0" i="0">
                <a:solidFill>
                  <a:srgbClr val="F63B05"/>
                </a:solidFill>
                <a:latin typeface="Anton"/>
              </a:rPr>
              <a:t>SPARK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126480"/>
            <a:ext cx="5486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AE5"/>
                </a:solidFill>
                <a:latin typeface="Open Sans"/>
              </a:rPr>
              <a:t>Building Social Fitness,
One Connection at a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786384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BBBBBB"/>
                </a:solidFill>
                <a:latin typeface="Open Sans"/>
              </a:rPr>
              <a:t>Presented by: Team SocialSpark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32104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63B05"/>
                </a:solidFill>
                <a:latin typeface="Open Sans"/>
              </a:rPr>
              <a:t>Entrepreneurship Cell  ·  Shark Tank Competition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995781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·  Building Social Fitness, One Connection at a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0" y="99578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neliness_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156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515600" cy="10287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7772400" cy="10287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0"/>
            <a:ext cx="73152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858000"/>
            <a:ext cx="9326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1">
                <a:solidFill>
                  <a:srgbClr val="FFFFFF"/>
                </a:solidFill>
                <a:latin typeface="Open Sans"/>
              </a:rPr>
              <a:t>"We don't lack people around us.
We lack meaningful connections."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675120"/>
            <a:ext cx="45720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594360"/>
            <a:ext cx="320040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82528" y="649224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1234440"/>
            <a:ext cx="68580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Anton"/>
              </a:rPr>
              <a:t>LONELINESS
IS AN
ECONOMIC
CRISIS.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0" y="5577840"/>
            <a:ext cx="68580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58521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63B05"/>
                </a:solidFill>
                <a:latin typeface="Anton"/>
              </a:rPr>
              <a:t>1 IN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0" y="592531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adults experience chronic loneliness globally.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72084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63B05"/>
                </a:solidFill>
                <a:latin typeface="Anton"/>
              </a:rPr>
              <a:t>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0" y="679399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higher risk of clinical depression &amp; burnout.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758952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63B05"/>
                </a:solidFill>
                <a:latin typeface="Anton"/>
              </a:rPr>
              <a:t>16–60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0" y="766267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— the full age spectrum it affects in India.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995781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·  Building Social Fitness, One Connection at a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0" y="99578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400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56032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74904"/>
            <a:ext cx="23408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0" b="0" i="0">
                <a:solidFill>
                  <a:srgbClr val="FFFFFF"/>
                </a:solidFill>
                <a:latin typeface="Anton"/>
              </a:rPr>
              <a:t>COMMUNICATION
VS CONNECTION.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63B05"/>
                </a:solidFill>
                <a:latin typeface="Open Sans"/>
              </a:rPr>
              <a:t>Apps help people talk. We help people belong.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6916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8138160" cy="502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0740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BBBBBB"/>
                </a:solidFill>
                <a:latin typeface="Anton"/>
              </a:rPr>
              <a:t>Existing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AE5"/>
                </a:solidFill>
                <a:latin typeface="Open Sans"/>
              </a:rPr>
              <a:t>💬  Endless chats — no action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3328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AE5"/>
                </a:solidFill>
                <a:latin typeface="Open Sans"/>
              </a:rPr>
              <a:t>📱  Online-only, screen-addictive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91655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AE5"/>
                </a:solidFill>
                <a:latin typeface="Open Sans"/>
              </a:rPr>
              <a:t>👁  Passive scrolling drives anxiety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7050023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AE5"/>
                </a:solidFill>
                <a:latin typeface="Open Sans"/>
              </a:rPr>
              <a:t>❤️  Vanity metrics: likes &amp; followers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708392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AE5"/>
                </a:solidFill>
                <a:latin typeface="Open Sans"/>
              </a:rPr>
              <a:t>😶  Zero offline habit formation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4389120"/>
            <a:ext cx="8229600" cy="50292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440740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nton"/>
              </a:rPr>
              <a:t>SocialSpark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5074920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Open Sans"/>
              </a:rPr>
              <a:t>🌟  Experience-first, real-world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5733288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Open Sans"/>
              </a:rPr>
              <a:t>🚶  Offline-first — QR-verified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391655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Open Sans"/>
              </a:rPr>
              <a:t>🤝  Active participation &amp; community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7050023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Open Sans"/>
              </a:rPr>
              <a:t>🏆  Social XP &amp; gamified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7708392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Open Sans"/>
              </a:rPr>
              <a:t>🎯  Streak-based social fitness habits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995781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·  Building Social Fitness, One Connection at a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0" y="99578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_mockup_scre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57200"/>
            <a:ext cx="7772400" cy="9372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0584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85800"/>
            <a:ext cx="292608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40664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9144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i="0">
                <a:solidFill>
                  <a:srgbClr val="FFFFFF"/>
                </a:solidFill>
                <a:latin typeface="Anton"/>
              </a:rPr>
              <a:t>INDIA'S FIRST
SOCIAL FITNESS
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91440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BBBBB"/>
                </a:solidFill>
                <a:latin typeface="Open Sans"/>
              </a:rPr>
              <a:t>Instead of: "Who do you want to talk to?"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63B05"/>
                </a:solidFill>
                <a:latin typeface="Open Sans"/>
              </a:rPr>
              <a:t>We ask: "What do you want to experience today?"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7086600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🎨  Hobby Clubs — Photography, Chess, Music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7616952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🏃  Community Activities — Sports, Tournaments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8147304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🤝  Volunteering Drives — NGO-verified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8677656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🎤  Workshops — Cooking, Coding, Pottery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920800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☕  Local Meetups — Cafés, Book Clubs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995781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·  Building Social Fitness, One Connection at a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9578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400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74320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74904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2801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  <a:latin typeface="Anton"/>
              </a:rPr>
              <a:t>HOW IT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63B05"/>
                </a:solidFill>
                <a:latin typeface="Open Sans"/>
              </a:rPr>
              <a:t>Four steps. Fully offline-verified.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16916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3931920" cy="53949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566160"/>
            <a:ext cx="39319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63B05"/>
                </a:solidFill>
                <a:latin typeface="Anto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nton"/>
              </a:rPr>
              <a:t>SIGN UP
&amp; 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76072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Choose your interests — Photography, Football, Yoga, Cooking, Music, Coding, Reading, or Volunteering.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566160"/>
            <a:ext cx="3931920" cy="53949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3566160"/>
            <a:ext cx="39319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37033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63B05"/>
                </a:solidFill>
                <a:latin typeface="Anton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66344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nton"/>
              </a:rPr>
              <a:t>AI
MATCHES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576072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Our algorithm recommends verified, nearby events tailored precisely to your interest profile.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566160"/>
            <a:ext cx="3931920" cy="53949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3566160"/>
            <a:ext cx="39319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7033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63B05"/>
                </a:solidFill>
                <a:latin typeface="Anton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466344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nton"/>
              </a:rPr>
              <a:t>ATTEND
&amp;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576072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Show up in person. Scan the host's QR code. Attendance is instantly verified on-chain — no cheating.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5920" y="3566160"/>
            <a:ext cx="3931920" cy="53949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075920" y="3566160"/>
            <a:ext cx="39319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13080" y="37033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63B05"/>
                </a:solidFill>
                <a:latin typeface="Anton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13080" y="466344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nton"/>
              </a:rPr>
              <a:t>EARN XP
&amp; REDEEM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13080" y="576072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Collect Social XP. Hit weekly streaks. Climb leaderboards. Unlock coffee coupons, movie tickets, gym passes.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995781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·  Building Social Fitness, One Connection at a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0" y="99578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amification_x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0"/>
            <a:ext cx="86868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601200" y="0"/>
            <a:ext cx="8686800" cy="10287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411480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57784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GAMIFICATION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9144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Anton"/>
              </a:rPr>
              <a:t>MAKING SOCIAL
INTERACTION
A HABIT.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91440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846320"/>
            <a:ext cx="914400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37759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AE5"/>
                </a:solidFill>
                <a:latin typeface="Open Sans"/>
              </a:rPr>
              <a:t>Attend standard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919472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0" i="0">
                <a:solidFill>
                  <a:srgbClr val="F63B05"/>
                </a:solidFill>
                <a:latin typeface="Anton"/>
              </a:rPr>
              <a:t>+50 XP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522976"/>
            <a:ext cx="914400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14416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AE5"/>
                </a:solidFill>
                <a:latin typeface="Open Sans"/>
              </a:rPr>
              <a:t>Volunteer at NGO drive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596128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0" i="0">
                <a:solidFill>
                  <a:srgbClr val="F63B05"/>
                </a:solidFill>
                <a:latin typeface="Anton"/>
              </a:rPr>
              <a:t>+150 XP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199632"/>
            <a:ext cx="914400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291072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AE5"/>
                </a:solidFill>
                <a:latin typeface="Open Sans"/>
              </a:rPr>
              <a:t>Host a community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272784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0" i="0">
                <a:solidFill>
                  <a:srgbClr val="F63B05"/>
                </a:solidFill>
                <a:latin typeface="Anton"/>
              </a:rPr>
              <a:t>+300 XP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876288"/>
            <a:ext cx="914400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967728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AE5"/>
                </a:solidFill>
                <a:latin typeface="Open Sans"/>
              </a:rPr>
              <a:t>Bring a new friend along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949440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0" i="0">
                <a:solidFill>
                  <a:srgbClr val="F63B05"/>
                </a:solidFill>
                <a:latin typeface="Anton"/>
              </a:rPr>
              <a:t>+100 XP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7552944"/>
            <a:ext cx="914400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7644383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AE5"/>
                </a:solidFill>
                <a:latin typeface="Open Sans"/>
              </a:rPr>
              <a:t>Complete weekly 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7626096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0" i="0">
                <a:solidFill>
                  <a:srgbClr val="F63B05"/>
                </a:solidFill>
                <a:latin typeface="Anton"/>
              </a:rPr>
              <a:t>+250 XP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89154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BBBBB"/>
                </a:solidFill>
                <a:latin typeface="Open Sans"/>
              </a:rPr>
              <a:t>Just like fitness apps create daily exercise habits —
SocialSpark creates lifelong social wellness habits.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995781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·  Building Social Fitness, One Connection at a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0" y="99578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400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320040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74904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144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  <a:latin typeface="Anton"/>
              </a:rPr>
              <a:t>FIVE REVENUE
STREAMS.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63B05"/>
                </a:solidFill>
                <a:latin typeface="Open Sans"/>
              </a:rPr>
              <a:t>Diversified · Sustainable · Scalable.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6916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Open Sans"/>
              </a:rPr>
              <a:t>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8404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63B05"/>
                </a:solidFill>
                <a:latin typeface="Open Sans"/>
              </a:rPr>
              <a:t>B2B Hosting Fees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22452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Open Sans"/>
              </a:rPr>
              <a:t>Cafés, bookstores, coworking spaces pay to host branded community events and drive authentic offline footfall — no billboard spend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28032"/>
            <a:ext cx="16916400" cy="182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Open Sans"/>
              </a:rPr>
              <a:t>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93776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63B05"/>
                </a:solidFill>
                <a:latin typeface="Open Sans"/>
              </a:rPr>
              <a:t>Premium Membership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32180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Open Sans"/>
              </a:rPr>
              <a:t>₹199/month unlocks priority bookings, exclusive workshops, bonus XP multiplier, and advanced networking features.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925312"/>
            <a:ext cx="16916400" cy="182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Open Sans"/>
              </a:rPr>
              <a:t>🎟️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603504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63B05"/>
                </a:solidFill>
                <a:latin typeface="Open Sans"/>
              </a:rPr>
              <a:t>Event Ticket Cut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641908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Open Sans"/>
              </a:rPr>
              <a:t>20% commission on all paid hobby workshops — pottery, dance, coding, music, photography, cooking.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7022592"/>
            <a:ext cx="16916400" cy="182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713232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Open Sans"/>
              </a:rPr>
              <a:t>🏷️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713232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63B05"/>
                </a:solidFill>
                <a:latin typeface="Open Sans"/>
              </a:rPr>
              <a:t>Brand Partnerships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751636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Open Sans"/>
              </a:rPr>
              <a:t>Local brands sponsor XP rewards, leaderboards, and seasonal campaigns instead of paying for influencers.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8119872"/>
            <a:ext cx="16916400" cy="182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8229600"/>
            <a:ext cx="731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Open Sans"/>
              </a:rPr>
              <a:t>❤️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822960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63B05"/>
                </a:solidFill>
                <a:latin typeface="Open Sans"/>
              </a:rPr>
              <a:t>NGO Subscriptions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861364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Open Sans"/>
              </a:rPr>
              <a:t>Monthly SaaS fee for NGOs to recruit, verify, and manage dedicated volunteer groups through our network.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9217152"/>
            <a:ext cx="16916400" cy="182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995781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·  Building Social Fitness, One Connection at a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0" y="99578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dia_scale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601200" cy="10287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73152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502920"/>
            <a:ext cx="411480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8128" y="557784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SCALABILITY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143000"/>
            <a:ext cx="7772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  <a:latin typeface="Anton"/>
              </a:rPr>
              <a:t>BUILT
TO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3429000"/>
            <a:ext cx="7772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3749039"/>
            <a:ext cx="914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3749039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nton"/>
              </a:rPr>
              <a:t>PILOT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418795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20 cafés · 15 NGOs · 10 colleges · 100 verified events.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4736592"/>
            <a:ext cx="7772400" cy="182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4846320"/>
            <a:ext cx="914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4846320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nton"/>
              </a:rPr>
              <a:t>CAMPUS &amp; CORPS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5285231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Universities, corporates, coworking networks.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5833872"/>
            <a:ext cx="7772400" cy="182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5943600"/>
            <a:ext cx="914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5943600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nton"/>
              </a:rPr>
              <a:t>METRO 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8251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Bangalore · Mumbai · Delhi · Hyderabad · Pune.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6931152"/>
            <a:ext cx="7772400" cy="182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7040880"/>
            <a:ext cx="914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7040880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nton"/>
              </a:rPr>
              <a:t>PAN INDIA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747979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Tier-1 and Tier-2 cities. Nation-scale community.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8028432"/>
            <a:ext cx="7772400" cy="182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8138160"/>
            <a:ext cx="914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8138160"/>
            <a:ext cx="3200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nton"/>
              </a:rPr>
              <a:t>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857707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South-East Asia, Middle East, student hubs worldwide.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9125712"/>
            <a:ext cx="7772400" cy="182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995781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·  Building Social Fitness, One Connection at a Time.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0" y="99578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400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347472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74904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WHY SOCIALSPARK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144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0" b="0" i="0">
                <a:solidFill>
                  <a:srgbClr val="FFFFFF"/>
                </a:solidFill>
                <a:latin typeface="Anton"/>
              </a:rPr>
              <a:t>FIVE REASONS
WE WIN.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6916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3246120" cy="5669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32461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Open Sans"/>
              </a:rPr>
              <a:t>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nton"/>
              </a:rPr>
              <a:t>SOCIAL FITNESS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83480"/>
            <a:ext cx="2971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Not social media. We track real offline interactions and reward genuine human connection.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200400"/>
            <a:ext cx="3246120" cy="5669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3200400"/>
            <a:ext cx="32461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383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Open Sans"/>
              </a:rPr>
              <a:t>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20624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nton"/>
              </a:rPr>
              <a:t>OFFLINE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983480"/>
            <a:ext cx="2971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Technology initiates the connection. Real friendships are forged face-to-face, not on a feed.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3200400"/>
            <a:ext cx="3246120" cy="5669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3200400"/>
            <a:ext cx="32461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3383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Open Sans"/>
              </a:rPr>
              <a:t>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20624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nton"/>
              </a:rPr>
              <a:t>GAMIFIED HABITS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983480"/>
            <a:ext cx="2971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XP, streaks, leaderboards, weekly quests — the same psychology that made fitness apps indispensable.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81359" y="3200400"/>
            <a:ext cx="3246120" cy="5669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81359" y="3200400"/>
            <a:ext cx="32461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18519" y="3383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Open Sans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19" y="420624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nton"/>
              </a:rPr>
              <a:t>VERIFIED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19" y="4983480"/>
            <a:ext cx="2971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Verified profiles, verified hosts, verified venues. Trust is the foundation of our community.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264639" y="3200400"/>
            <a:ext cx="3246120" cy="5669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64639" y="3200400"/>
            <a:ext cx="32461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01799" y="33832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Open Sans"/>
              </a:rPr>
              <a:t>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01799" y="420624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nton"/>
              </a:rPr>
              <a:t>FULL ECOSYSTEM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01799" y="4983480"/>
            <a:ext cx="2971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Every stakeholder wins — users, businesses, brands, and NGOs are rewarded for participating.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8961120"/>
            <a:ext cx="16916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F63B05"/>
                </a:solidFill>
                <a:latin typeface="Open Sans"/>
              </a:rPr>
              <a:t>"We don't build users. We build communities."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995781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·  Building Social Fitness, One Connection at a Time.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0" y="99578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3B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73152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594360"/>
            <a:ext cx="320040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9224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MARKET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772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0" b="0" i="0">
                <a:solidFill>
                  <a:srgbClr val="FFFFFF"/>
                </a:solidFill>
                <a:latin typeface="Anton"/>
              </a:rPr>
              <a:t>RIGHT
PROBLEM.
RIGHT
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17920"/>
            <a:ext cx="7772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772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FFFAE5"/>
                </a:solidFill>
                <a:latin typeface="Open Sans"/>
              </a:rPr>
              <a:t>"People already track their sleep,
their calories, their heartbeats.
Why not their social wellbeing?"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0"/>
            <a:ext cx="2834640" cy="10287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1887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Open Sans"/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46888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63B05"/>
                </a:solidFill>
                <a:latin typeface="Anton"/>
              </a:rPr>
              <a:t>MENTAL HEALTH
AWARENESS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3977639"/>
            <a:ext cx="22860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4160520"/>
            <a:ext cx="228600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Loneliness is now a declared public health epidemic. Governments and investors globally are funding solutions to the loneliness crisis.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15800" y="0"/>
            <a:ext cx="2834640" cy="10287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11887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Open Sans"/>
              </a:rPr>
              <a:t>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0" y="246888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63B05"/>
                </a:solidFill>
                <a:latin typeface="Anton"/>
              </a:rPr>
              <a:t>HYBRID WORK
IS THE NORM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0" y="3977639"/>
            <a:ext cx="22860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0" y="4160520"/>
            <a:ext cx="228600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Remote and hybrid work eliminated daily spontaneous office interactions for millions. The hunger for community has never been greater.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179040" y="0"/>
            <a:ext cx="2834640" cy="10287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407640" y="118872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Open Sans"/>
              </a:rPr>
              <a:t>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07640" y="246888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63B05"/>
                </a:solidFill>
                <a:latin typeface="Anton"/>
              </a:rPr>
              <a:t>SCREEN
FATIGUE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407640" y="3977639"/>
            <a:ext cx="22860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407640" y="4160520"/>
            <a:ext cx="228600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Gen-Z and Millennials are actively pursuing digital detoxes. Real, tangible experiences are the new social currency.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995781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·  Building Social Fitness, One Connection at a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0" y="99578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400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347472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74904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INVESTMENT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0" b="0" i="0">
                <a:solidFill>
                  <a:srgbClr val="F63B05"/>
                </a:solidFill>
                <a:latin typeface="Anton"/>
              </a:rPr>
              <a:t>₹20 LAKHS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nton"/>
              </a:rPr>
              <a:t>FOR 10% EQUITY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16916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AE5"/>
                </a:solidFill>
                <a:latin typeface="Anton"/>
              </a:rPr>
              <a:t>FUND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5943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Product Development &amp; App Refinement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46320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63B05"/>
                </a:solidFill>
                <a:latin typeface="Anton"/>
              </a:rPr>
              <a:t>40%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30368"/>
            <a:ext cx="960120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230368"/>
            <a:ext cx="3840480" cy="256032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15583"/>
            <a:ext cx="5943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Marketing &amp; City Launch Campaigns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815583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63B05"/>
                </a:solidFill>
                <a:latin typeface="Anton"/>
              </a:rPr>
              <a:t>30%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199631"/>
            <a:ext cx="960120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6199631"/>
            <a:ext cx="2880360" cy="256032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784848"/>
            <a:ext cx="5943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Partnership Expansion (B2B + NGOs)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784848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63B05"/>
                </a:solidFill>
                <a:latin typeface="Anton"/>
              </a:rPr>
              <a:t>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7168896"/>
            <a:ext cx="960120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7168896"/>
            <a:ext cx="1920240" cy="256032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7754112"/>
            <a:ext cx="5943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Operations &amp; Customer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775411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63B05"/>
                </a:solidFill>
                <a:latin typeface="Anton"/>
              </a:rPr>
              <a:t>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8138160"/>
            <a:ext cx="960120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8138160"/>
            <a:ext cx="960120" cy="256032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0" y="822960"/>
            <a:ext cx="6858000" cy="8229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0" y="822960"/>
            <a:ext cx="64008" cy="82296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0" y="1097280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63B05"/>
                </a:solidFill>
                <a:latin typeface="Anton"/>
              </a:rPr>
              <a:t>OUR 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1828800"/>
            <a:ext cx="62179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AE5"/>
                </a:solidFill>
                <a:latin typeface="Open Sans"/>
              </a:rPr>
              <a:t>To build India's largest platform for meaningful human connection — transforming loneliness into community, one city at a time.
The technology stays the same. Only communities grow.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338560" y="5120640"/>
            <a:ext cx="59436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0" y="534924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nton"/>
              </a:rPr>
              <a:t>YEAR 1 TARGETS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59436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→  20 business partners onboarded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19088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→  15 NGO integrations 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894575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→  10,000+ active verified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7370063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→  100+ monthly community events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9957816"/>
            <a:ext cx="1280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·  Building Social Fitness, One Connection at a 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0" y="99578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3B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0"/>
            <a:ext cx="73152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18872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0" i="0">
                <a:solidFill>
                  <a:srgbClr val="000000"/>
                </a:solidFill>
                <a:latin typeface="Anton"/>
              </a:rPr>
              <a:t>THANK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20040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0" i="0">
                <a:solidFill>
                  <a:srgbClr val="000000"/>
                </a:solidFill>
                <a:latin typeface="Anton"/>
              </a:rPr>
              <a:t>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53035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i="1">
                <a:solidFill>
                  <a:srgbClr val="000000"/>
                </a:solidFill>
                <a:latin typeface="Open Sans"/>
              </a:rPr>
              <a:t>For Your Attention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6263640"/>
            <a:ext cx="18288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F63B05"/>
                </a:solidFill>
                <a:latin typeface="Anton"/>
              </a:rPr>
              <a:t>SOCIALSPARK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FFAE5"/>
                </a:solidFill>
                <a:latin typeface="Open Sans"/>
              </a:rPr>
              <a:t>"Building Social Fitness,
One Connection at a Time."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94960"/>
            <a:ext cx="59436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BBBBB"/>
                </a:solidFill>
                <a:latin typeface="Open Sans"/>
              </a:rPr>
              <a:t>"Loneliness isn't solved by more screen time.
It's solved by more real time."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22860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F63B05"/>
                </a:solidFill>
                <a:latin typeface="Anton"/>
              </a:rPr>
              <a:t>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33832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Open Sans"/>
              </a:rPr>
              <a:t>Let's Connect.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402336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63B05"/>
                </a:solidFill>
                <a:latin typeface="Open Sans"/>
              </a:rPr>
              <a:t>team@socialspark.in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38560" y="4754880"/>
            <a:ext cx="59436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0" y="50292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BBBBBB"/>
                </a:solidFill>
                <a:latin typeface="Open Sans"/>
              </a:rPr>
              <a:t>Entrepreneurship Cell
Shark Tank Competition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9948672"/>
            <a:ext cx="1737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63B05"/>
                </a:solidFill>
                <a:latin typeface="Open Sans"/>
              </a:rPr>
              <a:t>SocialSpark Pitch Deck  ·  Shark Tank Competition  ·  Slide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